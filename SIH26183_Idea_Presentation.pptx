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868680"/>
            <a:ext cx="8534400" cy="100584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FUND-TRAIL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74320" y="-411480"/>
            <a:ext cx="9418320" cy="2075688"/>
          </a:xfrm>
        </p:spPr>
        <p:txBody>
          <a:bodyPr/>
          <a:lstStyle/>
          <a:p>
            <a:r>
              <a:rPr lang="en-US" sz="32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2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6126480" cy="420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Problem Statement ID – </a:t>
            </a:r>
            <a:r>
              <a:rPr sz="2000" b="1">
                <a:solidFill>
                  <a:srgbClr val="1F3864"/>
                </a:solidFill>
                <a:latin typeface="Arial"/>
              </a:rPr>
              <a:t>26183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Problem Statement Title – </a:t>
            </a:r>
            <a:r>
              <a:rPr sz="1500" b="1">
                <a:solidFill>
                  <a:srgbClr val="1F3864"/>
                </a:solidFill>
                <a:latin typeface="Arial"/>
              </a:rPr>
              <a:t>Real-Time Identification of Fraud-Linked Cryptocurrency Exchanges from Victim-Reported Suspect Wallet Addresses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Theme – </a:t>
            </a:r>
            <a:r>
              <a:rPr sz="2000" b="1">
                <a:solidFill>
                  <a:srgbClr val="1F3864"/>
                </a:solidFill>
                <a:latin typeface="Arial"/>
              </a:rPr>
              <a:t>Blockchain &amp; Cybersecurity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PS Category – </a:t>
            </a:r>
            <a:r>
              <a:rPr sz="2000" b="1">
                <a:solidFill>
                  <a:srgbClr val="1F3864"/>
                </a:solidFill>
                <a:latin typeface="Arial"/>
              </a:rPr>
              <a:t>Software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Team ID –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Team Name – </a:t>
            </a:r>
            <a:r>
              <a:rPr sz="2000" b="1">
                <a:solidFill>
                  <a:srgbClr val="1F3864"/>
                </a:solidFill>
                <a:latin typeface="Arial"/>
              </a:rPr>
              <a:t>(Registered on portal)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FUND-TRAIL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2" name="Rounded Rectangle 15361"/>
          <p:cNvSpPr/>
          <p:nvPr/>
        </p:nvSpPr>
        <p:spPr>
          <a:xfrm>
            <a:off x="502920" y="1207008"/>
            <a:ext cx="11201400" cy="1517904"/>
          </a:xfrm>
          <a:prstGeom prst="roundRect">
            <a:avLst>
              <a:gd name="adj" fmla="val 7000"/>
            </a:avLst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PROPOSED SOLUTION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•  One wallet address in — the likely cash-out exchange out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•  Live chain data → fund-flow graph → actor clusters → confidence score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•  One click produces a hash-sealed PDF for the case file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502920" y="2907792"/>
            <a:ext cx="11201400" cy="1517904"/>
          </a:xfrm>
          <a:prstGeom prst="roundRect">
            <a:avLst>
              <a:gd name="adj" fmla="val 7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HOW IT ADDRESSES THE PROBLEM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•  Manual hop-by-hop tracing takes hours — scammers cash out in hours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•  A wallet cannot be frozen; an exchange account can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•  We name that exchange in minutes, not days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502920" y="4608576"/>
            <a:ext cx="11201400" cy="1517904"/>
          </a:xfrm>
          <a:prstGeom prst="roundRect">
            <a:avLst>
              <a:gd name="adj" fmla="val 7000"/>
            </a:avLst>
          </a:prstGeom>
          <a:solidFill>
            <a:srgbClr val="6FA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INNOVATION AND UNIQUENESS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•  The missing middle: free and self-hostable, not enterprise-priced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•  Explainable rules, not a black box — every point of the score is auditable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•  Built around India's 1930 / cybercrime.gov.in complaint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457200" y="1207008"/>
            <a:ext cx="3611880" cy="4846320"/>
          </a:xfrm>
          <a:prstGeom prst="roundRect">
            <a:avLst>
              <a:gd name="adj" fmla="val 7000"/>
            </a:avLst>
          </a:prstGeom>
          <a:solidFill>
            <a:srgbClr val="7FD1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TECHNOLOGIES USED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1.  Python · FastAPI · NetworkX graph engine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2.  Blockchair (BTC) · Etherscan (ETH) + local cache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3.  React · Vite · Tailwind · force-directed graph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4.  PostgreSQL / SQLite · SHA-256 evidence hash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5.  GraphSense TagPacks · OFAC SDN list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1450" b="1">
                <a:solidFill>
                  <a:srgbClr val="000000"/>
                </a:solidFill>
                <a:latin typeface="Arial"/>
              </a:rPr>
              <a:t>No GPU. No model training —​ runs on one laptop.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279392" y="1207008"/>
            <a:ext cx="7443216" cy="4846320"/>
          </a:xfrm>
          <a:prstGeom prst="roundRect">
            <a:avLst>
              <a:gd name="adj" fmla="val 7000"/>
            </a:avLst>
          </a:prstGeom>
          <a:solidFill>
            <a:srgbClr val="E9A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28016" bIns="128016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4480560" y="1335024"/>
            <a:ext cx="7040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METHODOLOGY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480560" y="1664208"/>
            <a:ext cx="704088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28016" bIns="128016"/>
          <a:lstStyle/>
          <a:p/>
        </p:txBody>
      </p:sp>
      <p:sp>
        <p:nvSpPr>
          <p:cNvPr id="17414" name="Rounded Rectangle 17413"/>
          <p:cNvSpPr/>
          <p:nvPr/>
        </p:nvSpPr>
        <p:spPr>
          <a:xfrm>
            <a:off x="4572000" y="1837943"/>
            <a:ext cx="1271016" cy="749808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Wallet
address</a:t>
            </a:r>
          </a:p>
        </p:txBody>
      </p:sp>
      <p:sp>
        <p:nvSpPr>
          <p:cNvPr id="17415" name="Isosceles Triangle 17414"/>
          <p:cNvSpPr/>
          <p:nvPr/>
        </p:nvSpPr>
        <p:spPr>
          <a:xfrm rot="5400000">
            <a:off x="5868619" y="2148840"/>
            <a:ext cx="77724" cy="128016"/>
          </a:xfrm>
          <a:prstGeom prst="triangl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5971031" y="1837943"/>
            <a:ext cx="1271016" cy="749808"/>
          </a:xfrm>
          <a:prstGeom prst="roundRect">
            <a:avLst>
              <a:gd name="adj" fmla="val 1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Fund-flow
graph</a:t>
            </a:r>
          </a:p>
        </p:txBody>
      </p:sp>
      <p:sp>
        <p:nvSpPr>
          <p:cNvPr id="17417" name="Isosceles Triangle 17416"/>
          <p:cNvSpPr/>
          <p:nvPr/>
        </p:nvSpPr>
        <p:spPr>
          <a:xfrm rot="5400000">
            <a:off x="7267651" y="2148840"/>
            <a:ext cx="77724" cy="128016"/>
          </a:xfrm>
          <a:prstGeom prst="triangl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7370063" y="1837943"/>
            <a:ext cx="1271016" cy="749808"/>
          </a:xfrm>
          <a:prstGeom prst="roundRect">
            <a:avLst>
              <a:gd name="adj" fmla="val 1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Entity
clustering</a:t>
            </a:r>
          </a:p>
        </p:txBody>
      </p:sp>
      <p:sp>
        <p:nvSpPr>
          <p:cNvPr id="17419" name="Isosceles Triangle 17418"/>
          <p:cNvSpPr/>
          <p:nvPr/>
        </p:nvSpPr>
        <p:spPr>
          <a:xfrm rot="5400000">
            <a:off x="8666683" y="2148840"/>
            <a:ext cx="77724" cy="128016"/>
          </a:xfrm>
          <a:prstGeom prst="triangl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8769096" y="1837943"/>
            <a:ext cx="1271016" cy="749808"/>
          </a:xfrm>
          <a:prstGeom prst="roundRect">
            <a:avLst>
              <a:gd name="adj" fmla="val 1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Pattern
detection</a:t>
            </a:r>
          </a:p>
        </p:txBody>
      </p:sp>
      <p:sp>
        <p:nvSpPr>
          <p:cNvPr id="17421" name="Isosceles Triangle 17420"/>
          <p:cNvSpPr/>
          <p:nvPr/>
        </p:nvSpPr>
        <p:spPr>
          <a:xfrm rot="5400000">
            <a:off x="10065715" y="2148840"/>
            <a:ext cx="77724" cy="128016"/>
          </a:xfrm>
          <a:prstGeom prst="triangl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10168128" y="1837943"/>
            <a:ext cx="1271016" cy="749808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Exchange
attribution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480560" y="2944368"/>
            <a:ext cx="7040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IMPLEMENTATION STEPS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480560" y="3291840"/>
            <a:ext cx="70408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" bIns="2743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1.  CASE INTAKE  —  </a:t>
            </a:r>
            <a:r>
              <a:rPr sz="1250">
                <a:solidFill>
                  <a:srgbClr val="000000"/>
                </a:solidFill>
                <a:latin typeface="Arial"/>
              </a:rPr>
              <a:t>wallet address, chain and complaint ID open a case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480560" y="3950208"/>
            <a:ext cx="70408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" bIns="2743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2.  GRAPH &amp; CLUSTERING  —  </a:t>
            </a:r>
            <a:r>
              <a:rPr sz="1250">
                <a:solidFill>
                  <a:srgbClr val="000000"/>
                </a:solidFill>
                <a:latin typeface="Arial"/>
              </a:rPr>
              <a:t>hundreds of addresses collapse into a few real actors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480560" y="4608576"/>
            <a:ext cx="70408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" bIns="2743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3.  DETECTION &amp; SCORING  —  </a:t>
            </a:r>
            <a:r>
              <a:rPr sz="1250">
                <a:solidFill>
                  <a:srgbClr val="000000"/>
                </a:solidFill>
                <a:latin typeface="Arial"/>
              </a:rPr>
              <a:t>five laundering patterns, each with a visible weight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480560" y="5266944"/>
            <a:ext cx="70408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" bIns="2743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4.  ATTRIBUTION &amp; REPORT  —  </a:t>
            </a:r>
            <a:r>
              <a:rPr sz="1250">
                <a:solidFill>
                  <a:srgbClr val="000000"/>
                </a:solidFill>
                <a:latin typeface="Arial"/>
              </a:rPr>
              <a:t>ranked exit exchange, human review, hash-sealed 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502920" y="1207008"/>
            <a:ext cx="11201400" cy="1517904"/>
          </a:xfrm>
          <a:prstGeom prst="roundRect">
            <a:avLst>
              <a:gd name="adj" fmla="val 7000"/>
            </a:avLst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ANALYSIS OF FEASIBILITY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•  Bitcoin and Ethereum ledgers are public and free to query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•  Graph work and rules, not deep learning — no GPU, no training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•  Attribution data (TagPacks, OFAC SDN) is openly licensed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2907792"/>
            <a:ext cx="11201400" cy="1517904"/>
          </a:xfrm>
          <a:prstGeom prst="roundRect">
            <a:avLst>
              <a:gd name="adj" fmla="val 7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POTENTIAL CHALLENGES AND RISKS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•  Free-tier API rate limits can break a live demo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•  Mixers and cross-chain bridges end deterministic tracing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•  Open tag lists miss smaller exchanges — some traces dead-end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4608576"/>
            <a:ext cx="11201400" cy="1517904"/>
          </a:xfrm>
          <a:prstGeom prst="roundRect">
            <a:avLst>
              <a:gd name="adj" fmla="val 7000"/>
            </a:avLst>
          </a:prstGeom>
          <a:solidFill>
            <a:srgbClr val="6FA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STRATEGIES FOR OVERCOMING THESE CHALLENGES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•  Cache-first design: pre-fetched demo wallets, rate limiter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•  Report a bridge or mixer hop as a confidence boundary, never a guess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•  Every attribution tag carries a public provenance link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502920" y="1207008"/>
            <a:ext cx="5440680" cy="4846320"/>
          </a:xfrm>
          <a:prstGeom prst="roundRect">
            <a:avLst>
              <a:gd name="adj" fmla="val 7000"/>
            </a:avLst>
          </a:prstGeom>
          <a:solidFill>
            <a:srgbClr val="7FD1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POTENTIAL IMPACT ON THE
TARGET AUDIENCE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•  Specialist tracing for cells that cannot afford it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•  Hours of manual work reduced to minutes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•  Better odds of freezing funds in time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•  Court-usable evidence, not a screenshot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281928" y="1207008"/>
            <a:ext cx="5440680" cy="4846320"/>
          </a:xfrm>
          <a:prstGeom prst="roundRect">
            <a:avLst>
              <a:gd name="adj" fmla="val 7000"/>
            </a:avLst>
          </a:prstGeom>
          <a:solidFill>
            <a:srgbClr val="E9A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BENEFITS OF THE SOLUTION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•  </a:t>
            </a:r>
            <a:r>
              <a:rPr sz="1600" b="1">
                <a:solidFill>
                  <a:srgbClr val="000000"/>
                </a:solidFill>
                <a:latin typeface="Arial"/>
              </a:rPr>
              <a:t>Social — </a:t>
            </a:r>
            <a:r>
              <a:rPr sz="1600">
                <a:solidFill>
                  <a:srgbClr val="000000"/>
                </a:solidFill>
                <a:latin typeface="Arial"/>
              </a:rPr>
              <a:t>recourse for ordinary scam victims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•  </a:t>
            </a:r>
            <a:r>
              <a:rPr sz="1600" b="1">
                <a:solidFill>
                  <a:srgbClr val="000000"/>
                </a:solidFill>
                <a:latin typeface="Arial"/>
              </a:rPr>
              <a:t>Economic — </a:t>
            </a:r>
            <a:r>
              <a:rPr sz="1600">
                <a:solidFill>
                  <a:srgbClr val="000000"/>
                </a:solidFill>
                <a:latin typeface="Arial"/>
              </a:rPr>
              <a:t>free, self-hostable, no licence cost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•  </a:t>
            </a:r>
            <a:r>
              <a:rPr sz="1600" b="1">
                <a:solidFill>
                  <a:srgbClr val="000000"/>
                </a:solidFill>
                <a:latin typeface="Arial"/>
              </a:rPr>
              <a:t>Operational — </a:t>
            </a:r>
            <a:r>
              <a:rPr sz="1600">
                <a:solidFill>
                  <a:srgbClr val="000000"/>
                </a:solidFill>
                <a:latin typeface="Arial"/>
              </a:rPr>
              <a:t>case workflow with human review</a:t>
            </a:r>
          </a:p>
          <a:p>
            <a:pPr algn="l" marL="219456" indent="-219456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•  </a:t>
            </a:r>
            <a:r>
              <a:rPr sz="1600" b="1">
                <a:solidFill>
                  <a:srgbClr val="000000"/>
                </a:solidFill>
                <a:latin typeface="Arial"/>
              </a:rPr>
              <a:t>Legal — </a:t>
            </a:r>
            <a:r>
              <a:rPr sz="1600">
                <a:solidFill>
                  <a:srgbClr val="000000"/>
                </a:solidFill>
                <a:latin typeface="Arial"/>
              </a:rPr>
              <a:t>explainable score, sealed evidence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0" name="Rounded Rectangle 17409"/>
          <p:cNvSpPr/>
          <p:nvPr/>
        </p:nvSpPr>
        <p:spPr>
          <a:xfrm>
            <a:off x="502920" y="1207008"/>
            <a:ext cx="11201400" cy="4846320"/>
          </a:xfrm>
          <a:prstGeom prst="roundRect">
            <a:avLst>
              <a:gd name="adj" fmla="val 7000"/>
            </a:avLst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DETAILS / LINKS OF THE REFERENCE AND RESEARCH WORK</a:t>
            </a:r>
          </a:p>
          <a:p>
            <a:pPr marL="219456" indent="-219456">
              <a:lnSpc>
                <a:spcPct val="100000"/>
              </a:lnSpc>
              <a:spcAft>
                <a:spcPts val="14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MHA — National Cybercrime Reporting Portal &amp; 1930 helpline  ·  </a:t>
            </a:r>
            <a:r>
              <a:rPr sz="1500">
                <a:solidFill>
                  <a:srgbClr val="1F3864"/>
                </a:solidFill>
                <a:latin typeface="Arial"/>
              </a:rPr>
              <a:t>cybercrime.gov.in</a:t>
            </a:r>
          </a:p>
          <a:p>
            <a:pPr marL="219456" indent="-219456">
              <a:lnSpc>
                <a:spcPct val="100000"/>
              </a:lnSpc>
              <a:spcAft>
                <a:spcPts val="14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Meiklejohn et al., “A Fistful of Bitcoins,” ACM IMC 2013  ·  </a:t>
            </a:r>
            <a:r>
              <a:rPr sz="1500">
                <a:solidFill>
                  <a:srgbClr val="1F3864"/>
                </a:solidFill>
                <a:latin typeface="Arial"/>
              </a:rPr>
              <a:t>address-clustering heuristics</a:t>
            </a:r>
          </a:p>
          <a:p>
            <a:pPr marL="219456" indent="-219456">
              <a:lnSpc>
                <a:spcPct val="100000"/>
              </a:lnSpc>
              <a:spcAft>
                <a:spcPts val="14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GraphSense TagPacks — open attribution tags  ·  </a:t>
            </a:r>
            <a:r>
              <a:rPr sz="1500">
                <a:solidFill>
                  <a:srgbClr val="1F3864"/>
                </a:solidFill>
                <a:latin typeface="Arial"/>
              </a:rPr>
              <a:t>github.com/graphsense/graphsense-tagpacks</a:t>
            </a:r>
          </a:p>
          <a:p>
            <a:pPr marL="219456" indent="-219456">
              <a:lnSpc>
                <a:spcPct val="100000"/>
              </a:lnSpc>
              <a:spcAft>
                <a:spcPts val="14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OFAC SDN — sanctioned crypto addresses  ·  </a:t>
            </a:r>
            <a:r>
              <a:rPr sz="1500">
                <a:solidFill>
                  <a:srgbClr val="1F3864"/>
                </a:solidFill>
                <a:latin typeface="Arial"/>
              </a:rPr>
              <a:t>ofac.treasury.gov</a:t>
            </a:r>
          </a:p>
          <a:p>
            <a:pPr marL="219456" indent="-219456">
              <a:lnSpc>
                <a:spcPct val="100000"/>
              </a:lnSpc>
              <a:spcAft>
                <a:spcPts val="14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Blockchair API (Bitcoin)  ·  </a:t>
            </a:r>
            <a:r>
              <a:rPr sz="1500">
                <a:solidFill>
                  <a:srgbClr val="1F3864"/>
                </a:solidFill>
                <a:latin typeface="Arial"/>
              </a:rPr>
              <a:t>blockchair.com/api/docs</a:t>
            </a:r>
          </a:p>
          <a:p>
            <a:pPr marL="219456" indent="-219456">
              <a:lnSpc>
                <a:spcPct val="100000"/>
              </a:lnSpc>
              <a:spcAft>
                <a:spcPts val="14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Etherscan API V2 (Ethereum)  ·  </a:t>
            </a:r>
            <a:r>
              <a:rPr sz="1500">
                <a:solidFill>
                  <a:srgbClr val="1F3864"/>
                </a:solidFill>
                <a:latin typeface="Arial"/>
              </a:rPr>
              <a:t>docs.etherscan.io</a:t>
            </a:r>
          </a:p>
          <a:p>
            <a:pPr marL="219456" indent="-219456">
              <a:lnSpc>
                <a:spcPct val="100000"/>
              </a:lnSpc>
              <a:spcAft>
                <a:spcPts val="14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GraphSense · BlockSci  ·  </a:t>
            </a:r>
            <a:r>
              <a:rPr sz="1500">
                <a:solidFill>
                  <a:srgbClr val="1F3864"/>
                </a:solidFill>
                <a:latin typeface="Arial"/>
              </a:rPr>
              <a:t>open-source blockchain forensics platforms</a:t>
            </a:r>
          </a:p>
          <a:p>
            <a:pPr marL="219456" indent="-219456">
              <a:lnSpc>
                <a:spcPct val="100000"/>
              </a:lnSpc>
              <a:spcAft>
                <a:spcPts val="14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Chainalysis Crypto Crime Report  ·  </a:t>
            </a:r>
            <a:r>
              <a:rPr sz="1500">
                <a:solidFill>
                  <a:srgbClr val="1F3864"/>
                </a:solidFill>
                <a:latin typeface="Arial"/>
              </a:rPr>
              <a:t>laundering typologies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